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69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9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386841"/>
            <a:ext cx="8269020" cy="874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678889"/>
            <a:ext cx="7388225" cy="3867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63763" y="6456950"/>
            <a:ext cx="2112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45C75"/>
                </a:solidFill>
                <a:latin typeface="Times New Roman"/>
                <a:cs typeface="Times New Roman"/>
              </a:defRPr>
            </a:lvl1pPr>
          </a:lstStyle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223" y="673100"/>
            <a:ext cx="74745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90" dirty="0">
                <a:latin typeface="Trebuchet MS"/>
                <a:cs typeface="Trebuchet MS"/>
              </a:rPr>
              <a:t>Matoshri</a:t>
            </a:r>
            <a:r>
              <a:rPr sz="2400" b="0" spc="-270" dirty="0">
                <a:latin typeface="Trebuchet MS"/>
                <a:cs typeface="Trebuchet MS"/>
              </a:rPr>
              <a:t> </a:t>
            </a:r>
            <a:r>
              <a:rPr sz="2400" b="0" spc="-95" dirty="0">
                <a:latin typeface="Trebuchet MS"/>
                <a:cs typeface="Trebuchet MS"/>
              </a:rPr>
              <a:t>College</a:t>
            </a:r>
            <a:r>
              <a:rPr sz="2400" b="0" spc="-245" dirty="0">
                <a:latin typeface="Trebuchet MS"/>
                <a:cs typeface="Trebuchet MS"/>
              </a:rPr>
              <a:t> </a:t>
            </a:r>
            <a:r>
              <a:rPr sz="2400" b="0" spc="-150" dirty="0">
                <a:latin typeface="Trebuchet MS"/>
                <a:cs typeface="Trebuchet MS"/>
              </a:rPr>
              <a:t>of</a:t>
            </a:r>
            <a:r>
              <a:rPr sz="2400" b="0" spc="-225" dirty="0">
                <a:latin typeface="Trebuchet MS"/>
                <a:cs typeface="Trebuchet MS"/>
              </a:rPr>
              <a:t> </a:t>
            </a:r>
            <a:r>
              <a:rPr sz="2400" b="0" spc="-150" dirty="0">
                <a:latin typeface="Trebuchet MS"/>
                <a:cs typeface="Trebuchet MS"/>
              </a:rPr>
              <a:t>Engineering</a:t>
            </a:r>
            <a:r>
              <a:rPr sz="2400" b="0" spc="-245" dirty="0">
                <a:latin typeface="Trebuchet MS"/>
                <a:cs typeface="Trebuchet MS"/>
              </a:rPr>
              <a:t> </a:t>
            </a:r>
            <a:r>
              <a:rPr sz="2400" b="0" spc="-110" dirty="0">
                <a:latin typeface="Trebuchet MS"/>
                <a:cs typeface="Trebuchet MS"/>
              </a:rPr>
              <a:t>and</a:t>
            </a:r>
            <a:r>
              <a:rPr sz="2400" b="0" spc="-240" dirty="0">
                <a:latin typeface="Trebuchet MS"/>
                <a:cs typeface="Trebuchet MS"/>
              </a:rPr>
              <a:t> </a:t>
            </a:r>
            <a:r>
              <a:rPr sz="2400" b="0" spc="-90" dirty="0">
                <a:latin typeface="Trebuchet MS"/>
                <a:cs typeface="Trebuchet MS"/>
              </a:rPr>
              <a:t>Research</a:t>
            </a:r>
            <a:r>
              <a:rPr sz="2400" b="0" spc="-204" dirty="0">
                <a:latin typeface="Trebuchet MS"/>
                <a:cs typeface="Trebuchet MS"/>
              </a:rPr>
              <a:t> </a:t>
            </a:r>
            <a:r>
              <a:rPr sz="2400" b="0" spc="-165" dirty="0">
                <a:latin typeface="Trebuchet MS"/>
                <a:cs typeface="Trebuchet MS"/>
              </a:rPr>
              <a:t>Centre,</a:t>
            </a:r>
            <a:r>
              <a:rPr sz="2400" b="0" spc="-220" dirty="0">
                <a:latin typeface="Trebuchet MS"/>
                <a:cs typeface="Trebuchet MS"/>
              </a:rPr>
              <a:t> </a:t>
            </a:r>
            <a:r>
              <a:rPr sz="2400" b="0" spc="-10" dirty="0">
                <a:latin typeface="Trebuchet MS"/>
                <a:cs typeface="Trebuchet MS"/>
              </a:rPr>
              <a:t>Nashik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919" y="1186941"/>
            <a:ext cx="36493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Tahoma"/>
                <a:cs typeface="Tahoma"/>
              </a:rPr>
              <a:t>Department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Computer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Engineering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6038" y="3315715"/>
            <a:ext cx="3632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770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ahoma"/>
                <a:cs typeface="Tahoma"/>
              </a:rPr>
              <a:t>Academic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Year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2024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-</a:t>
            </a:r>
            <a:r>
              <a:rPr sz="1500" spc="-25" dirty="0">
                <a:latin typeface="Tahoma"/>
                <a:cs typeface="Tahoma"/>
              </a:rPr>
              <a:t> 25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FF0000"/>
                </a:solidFill>
                <a:latin typeface="Tahoma"/>
                <a:cs typeface="Tahoma"/>
              </a:rPr>
              <a:t>PHASE</a:t>
            </a:r>
            <a:r>
              <a:rPr sz="17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0000"/>
                </a:solidFill>
                <a:latin typeface="Tahoma"/>
                <a:cs typeface="Tahoma"/>
              </a:rPr>
              <a:t>–</a:t>
            </a:r>
            <a:r>
              <a:rPr sz="17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0000"/>
                </a:solidFill>
                <a:latin typeface="Tahoma"/>
                <a:cs typeface="Tahoma"/>
              </a:rPr>
              <a:t>I</a:t>
            </a:r>
            <a:r>
              <a:rPr sz="1700" spc="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FF0000"/>
                </a:solidFill>
                <a:latin typeface="Tahoma"/>
                <a:cs typeface="Tahoma"/>
              </a:rPr>
              <a:t>INTERNAL</a:t>
            </a:r>
            <a:r>
              <a:rPr sz="17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Tahoma"/>
                <a:cs typeface="Tahoma"/>
              </a:rPr>
              <a:t>PRESENTATION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602" y="4302054"/>
            <a:ext cx="4253230" cy="74358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Project</a:t>
            </a:r>
            <a:r>
              <a:rPr sz="1500" spc="-25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Title</a:t>
            </a:r>
            <a:r>
              <a:rPr sz="1500" spc="-15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:</a:t>
            </a:r>
            <a:r>
              <a:rPr sz="1500" spc="-50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AI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powered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mock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interview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platform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Guide</a:t>
            </a:r>
            <a:r>
              <a:rPr sz="1500" spc="-40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Name</a:t>
            </a:r>
            <a:r>
              <a:rPr sz="1500" spc="-10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:</a:t>
            </a:r>
            <a:r>
              <a:rPr sz="1500" spc="-10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Ms.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10" dirty="0">
                <a:latin typeface="Tahoma"/>
                <a:cs typeface="Tahoma"/>
              </a:rPr>
              <a:t>P.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R.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Dholi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9038" y="4262754"/>
            <a:ext cx="2070735" cy="154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5745">
              <a:lnSpc>
                <a:spcPct val="122700"/>
              </a:lnSpc>
              <a:spcBef>
                <a:spcPts val="100"/>
              </a:spcBef>
            </a:pPr>
            <a:r>
              <a:rPr sz="1500" spc="-10" dirty="0">
                <a:solidFill>
                  <a:srgbClr val="6E2E9F"/>
                </a:solidFill>
                <a:latin typeface="Tahoma"/>
                <a:cs typeface="Tahoma"/>
              </a:rPr>
              <a:t>Presented</a:t>
            </a:r>
            <a:r>
              <a:rPr sz="1500" spc="-80" dirty="0">
                <a:solidFill>
                  <a:srgbClr val="6E2E9F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E2E9F"/>
                </a:solidFill>
                <a:latin typeface="Tahoma"/>
                <a:cs typeface="Tahoma"/>
              </a:rPr>
              <a:t>By </a:t>
            </a:r>
            <a:r>
              <a:rPr sz="1500" spc="-50" dirty="0">
                <a:solidFill>
                  <a:srgbClr val="6E2E9F"/>
                </a:solidFill>
                <a:latin typeface="Tahoma"/>
                <a:cs typeface="Tahoma"/>
              </a:rPr>
              <a:t>: </a:t>
            </a:r>
            <a:r>
              <a:rPr sz="1500" spc="-10" dirty="0">
                <a:latin typeface="Tahoma"/>
                <a:cs typeface="Tahoma"/>
              </a:rPr>
              <a:t>Shivam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Mangesh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Patil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40000"/>
              </a:lnSpc>
            </a:pPr>
            <a:r>
              <a:rPr sz="1500" spc="-10" dirty="0">
                <a:latin typeface="Tahoma"/>
                <a:cs typeface="Tahoma"/>
              </a:rPr>
              <a:t>Kapil</a:t>
            </a:r>
            <a:r>
              <a:rPr sz="1500" spc="-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Vikas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Shinde Sandesh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Sanjay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Dunbale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500" spc="-10" dirty="0">
                <a:latin typeface="Tahoma"/>
                <a:cs typeface="Tahoma"/>
              </a:rPr>
              <a:t>Bhavesh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Ganesh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Vakare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4802" y="1586864"/>
            <a:ext cx="1786421" cy="1608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517" y="135290"/>
            <a:ext cx="913897" cy="2750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9439" y="-4191"/>
            <a:ext cx="928369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80350D"/>
                </a:solidFill>
              </a:rPr>
              <a:t>Index</a:t>
            </a:r>
            <a:endParaRPr sz="29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005636" y="638302"/>
            <a:ext cx="4170679" cy="5659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Introduction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Literature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Survey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Motivation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50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Problem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Statement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Objective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Architecture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Mathematical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Model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Modules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Description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each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module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Design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(Sequence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State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transition)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Implementation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details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module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dirty="0">
                <a:latin typeface="Times New Roman"/>
                <a:cs typeface="Times New Roman"/>
              </a:rPr>
              <a:t>Project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Plan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59079" algn="l"/>
              </a:tabLst>
            </a:pPr>
            <a:r>
              <a:rPr sz="1600" spc="-10" dirty="0">
                <a:latin typeface="Times New Roman"/>
                <a:cs typeface="Times New Roman"/>
              </a:rPr>
              <a:t>References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107" y="607031"/>
            <a:ext cx="3609884" cy="3915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57035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0350D"/>
                </a:solidFill>
              </a:rPr>
              <a:t>Introduction</a:t>
            </a:r>
            <a:r>
              <a:rPr sz="3200" spc="-65" dirty="0">
                <a:solidFill>
                  <a:srgbClr val="80350D"/>
                </a:solidFill>
              </a:rPr>
              <a:t> </a:t>
            </a:r>
            <a:r>
              <a:rPr sz="3200" dirty="0">
                <a:solidFill>
                  <a:srgbClr val="80350D"/>
                </a:solidFill>
              </a:rPr>
              <a:t>to</a:t>
            </a:r>
            <a:r>
              <a:rPr sz="3200" spc="-45" dirty="0">
                <a:solidFill>
                  <a:srgbClr val="80350D"/>
                </a:solidFill>
              </a:rPr>
              <a:t> </a:t>
            </a:r>
            <a:r>
              <a:rPr sz="3200" spc="-10" dirty="0">
                <a:solidFill>
                  <a:srgbClr val="80350D"/>
                </a:solidFill>
              </a:rPr>
              <a:t>topic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1292312"/>
            <a:ext cx="7463790" cy="479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 algn="just">
              <a:lnSpc>
                <a:spcPct val="145000"/>
              </a:lnSpc>
              <a:spcBef>
                <a:spcPts val="95"/>
              </a:spcBef>
            </a:pP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</a:t>
            </a:r>
            <a:r>
              <a:rPr sz="1800" spc="2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00009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based</a:t>
            </a:r>
            <a:r>
              <a:rPr sz="1800" spc="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Mock</a:t>
            </a:r>
            <a:r>
              <a:rPr sz="1800" spc="2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system</a:t>
            </a:r>
            <a:r>
              <a:rPr sz="1800" spc="1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is an</a:t>
            </a:r>
            <a:r>
              <a:rPr sz="1800" spc="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innovative</a:t>
            </a:r>
            <a:r>
              <a:rPr sz="1800" spc="1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platform</a:t>
            </a:r>
            <a:r>
              <a:rPr sz="1800" spc="1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designed</a:t>
            </a:r>
            <a:r>
              <a:rPr sz="1800" spc="1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09"/>
                </a:solidFill>
                <a:latin typeface="Times New Roman"/>
                <a:cs typeface="Times New Roman"/>
              </a:rPr>
              <a:t>to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help</a:t>
            </a:r>
            <a:r>
              <a:rPr sz="1800" spc="23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individuals</a:t>
            </a:r>
            <a:r>
              <a:rPr sz="1800" spc="21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prepare</a:t>
            </a:r>
            <a:r>
              <a:rPr sz="1800" spc="24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for</a:t>
            </a:r>
            <a:r>
              <a:rPr sz="1800" spc="24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real-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world</a:t>
            </a:r>
            <a:r>
              <a:rPr sz="1800" spc="24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job</a:t>
            </a:r>
            <a:r>
              <a:rPr sz="1800" spc="23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interviews</a:t>
            </a:r>
            <a:r>
              <a:rPr sz="1800" spc="23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by</a:t>
            </a:r>
            <a:r>
              <a:rPr sz="1800" spc="26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simulating</a:t>
            </a:r>
            <a:r>
              <a:rPr sz="1800" spc="24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</a:t>
            </a:r>
            <a:r>
              <a:rPr sz="1800" spc="23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entire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process.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By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leveraging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artificial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intelligence,</a:t>
            </a:r>
            <a:r>
              <a:rPr sz="1800" spc="49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</a:t>
            </a:r>
            <a:r>
              <a:rPr sz="1800" spc="3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system</a:t>
            </a:r>
            <a:r>
              <a:rPr sz="1800" spc="3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offers</a:t>
            </a:r>
            <a:r>
              <a:rPr sz="1800" spc="2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50" dirty="0">
                <a:solidFill>
                  <a:srgbClr val="000009"/>
                </a:solidFill>
                <a:latin typeface="Times New Roman"/>
                <a:cs typeface="Times New Roman"/>
              </a:rPr>
              <a:t>a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personalized</a:t>
            </a:r>
            <a:r>
              <a:rPr sz="1800" spc="9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and</a:t>
            </a:r>
            <a:r>
              <a:rPr sz="1800" spc="8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immersive</a:t>
            </a:r>
            <a:r>
              <a:rPr sz="1800" spc="9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experience</a:t>
            </a:r>
            <a:r>
              <a:rPr sz="1800" spc="9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where</a:t>
            </a:r>
            <a:r>
              <a:rPr sz="1800" spc="7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users</a:t>
            </a:r>
            <a:r>
              <a:rPr sz="1800" spc="8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can</a:t>
            </a:r>
            <a:r>
              <a:rPr sz="1800" spc="8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practice</a:t>
            </a:r>
            <a:r>
              <a:rPr sz="1800" spc="8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key</a:t>
            </a:r>
            <a:r>
              <a:rPr sz="1800" spc="9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aspects</a:t>
            </a:r>
            <a:r>
              <a:rPr sz="1800" spc="8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09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interviews,</a:t>
            </a:r>
            <a:r>
              <a:rPr sz="1800" spc="204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including</a:t>
            </a:r>
            <a:r>
              <a:rPr sz="1800" spc="20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self-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introduction,</a:t>
            </a:r>
            <a:r>
              <a:rPr sz="1800" spc="21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technical</a:t>
            </a:r>
            <a:r>
              <a:rPr sz="1800" spc="20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knowledge,</a:t>
            </a:r>
            <a:r>
              <a:rPr sz="1800" spc="19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and</a:t>
            </a:r>
            <a:r>
              <a:rPr sz="1800" spc="20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aptitude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testing.</a:t>
            </a:r>
            <a:r>
              <a:rPr sz="1800" spc="3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With</a:t>
            </a:r>
            <a:r>
              <a:rPr sz="1800" spc="3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</a:t>
            </a:r>
            <a:r>
              <a:rPr sz="1800" spc="4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easy-to-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navigate</a:t>
            </a:r>
            <a:r>
              <a:rPr sz="1800" spc="4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interface,</a:t>
            </a:r>
            <a:r>
              <a:rPr sz="1800" spc="4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users</a:t>
            </a:r>
            <a:r>
              <a:rPr sz="1800" spc="4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can</a:t>
            </a:r>
            <a:r>
              <a:rPr sz="1800" spc="4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register,</a:t>
            </a:r>
            <a:r>
              <a:rPr sz="1800" spc="4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upload</a:t>
            </a:r>
            <a:r>
              <a:rPr sz="1800" spc="4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their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resumes,</a:t>
            </a:r>
            <a:r>
              <a:rPr sz="1800" spc="27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and</a:t>
            </a:r>
            <a:r>
              <a:rPr sz="1800" spc="254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participate</a:t>
            </a:r>
            <a:r>
              <a:rPr sz="1800" spc="27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</a:t>
            </a:r>
            <a:r>
              <a:rPr sz="1800" spc="254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multiple</a:t>
            </a:r>
            <a:r>
              <a:rPr sz="1800" spc="27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</a:t>
            </a:r>
            <a:r>
              <a:rPr sz="1800" spc="26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stages</a:t>
            </a:r>
            <a:r>
              <a:rPr sz="1800" spc="265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tailored</a:t>
            </a:r>
            <a:r>
              <a:rPr sz="1800" spc="270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to</a:t>
            </a:r>
            <a:r>
              <a:rPr sz="1800" spc="254" dirty="0">
                <a:solidFill>
                  <a:srgbClr val="000009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their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professional</a:t>
            </a:r>
            <a:r>
              <a:rPr sz="1800" spc="46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background.</a:t>
            </a:r>
            <a:r>
              <a:rPr sz="1800" spc="4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</a:t>
            </a:r>
            <a:r>
              <a:rPr sz="1800" spc="4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system</a:t>
            </a:r>
            <a:r>
              <a:rPr sz="1800" spc="45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provides</a:t>
            </a:r>
            <a:r>
              <a:rPr sz="1800" spc="44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comprehensive</a:t>
            </a:r>
            <a:r>
              <a:rPr sz="1800" spc="45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feedback</a:t>
            </a:r>
            <a:r>
              <a:rPr sz="1800" spc="44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09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performance</a:t>
            </a:r>
            <a:r>
              <a:rPr sz="1800" spc="4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analysis,</a:t>
            </a:r>
            <a:r>
              <a:rPr sz="1800" spc="47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helping</a:t>
            </a:r>
            <a:r>
              <a:rPr sz="1800" spc="46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users</a:t>
            </a:r>
            <a:r>
              <a:rPr sz="1800" spc="4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refine</a:t>
            </a:r>
            <a:r>
              <a:rPr sz="1800" spc="48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their</a:t>
            </a:r>
            <a:r>
              <a:rPr sz="1800" spc="46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skills</a:t>
            </a:r>
            <a:r>
              <a:rPr sz="1800" spc="47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and</a:t>
            </a:r>
            <a:r>
              <a:rPr sz="1800" spc="459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boost</a:t>
            </a:r>
            <a:r>
              <a:rPr sz="1800" spc="47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confidence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before</a:t>
            </a:r>
            <a:r>
              <a:rPr sz="1800" spc="1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facing</a:t>
            </a:r>
            <a:r>
              <a:rPr sz="1800" spc="15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actual</a:t>
            </a:r>
            <a:r>
              <a:rPr sz="1800" spc="15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interviews.</a:t>
            </a:r>
            <a:r>
              <a:rPr sz="1800" spc="14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This</a:t>
            </a:r>
            <a:r>
              <a:rPr sz="1800" spc="16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platform</a:t>
            </a:r>
            <a:r>
              <a:rPr sz="1800" spc="16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serves</a:t>
            </a:r>
            <a:r>
              <a:rPr sz="1800" spc="16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as</a:t>
            </a:r>
            <a:r>
              <a:rPr sz="1800" spc="16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</a:t>
            </a:r>
            <a:r>
              <a:rPr sz="1800" spc="15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valuable</a:t>
            </a:r>
            <a:r>
              <a:rPr sz="1800" spc="16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tool</a:t>
            </a:r>
            <a:r>
              <a:rPr sz="1800" spc="17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for</a:t>
            </a:r>
            <a:r>
              <a:rPr sz="1800" spc="15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09"/>
                </a:solidFill>
                <a:latin typeface="Times New Roman"/>
                <a:cs typeface="Times New Roman"/>
              </a:rPr>
              <a:t>job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seekers</a:t>
            </a:r>
            <a:r>
              <a:rPr sz="1800" spc="114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aiming</a:t>
            </a:r>
            <a:r>
              <a:rPr sz="1800" spc="12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to</a:t>
            </a:r>
            <a:r>
              <a:rPr sz="1800" spc="114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improve</a:t>
            </a:r>
            <a:r>
              <a:rPr sz="1800" spc="12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their</a:t>
            </a:r>
            <a:r>
              <a:rPr sz="1800" spc="9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interview</a:t>
            </a:r>
            <a:r>
              <a:rPr sz="1800" spc="12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performance</a:t>
            </a:r>
            <a:r>
              <a:rPr sz="1800" spc="130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and</a:t>
            </a:r>
            <a:r>
              <a:rPr sz="1800" spc="114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9"/>
                </a:solidFill>
                <a:latin typeface="Times New Roman"/>
                <a:cs typeface="Times New Roman"/>
              </a:rPr>
              <a:t>secure</a:t>
            </a:r>
            <a:r>
              <a:rPr sz="1800" spc="125" dirty="0">
                <a:solidFill>
                  <a:srgbClr val="00000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09"/>
                </a:solidFill>
                <a:latin typeface="Times New Roman"/>
                <a:cs typeface="Times New Roman"/>
              </a:rPr>
              <a:t>employment opportunities.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2101" y="146430"/>
            <a:ext cx="31845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80350D"/>
                </a:solidFill>
              </a:rPr>
              <a:t>Literature</a:t>
            </a:r>
            <a:r>
              <a:rPr sz="3300" spc="-195" dirty="0">
                <a:solidFill>
                  <a:srgbClr val="80350D"/>
                </a:solidFill>
              </a:rPr>
              <a:t> </a:t>
            </a:r>
            <a:r>
              <a:rPr sz="3300" spc="-125" dirty="0">
                <a:solidFill>
                  <a:srgbClr val="80350D"/>
                </a:solidFill>
                <a:latin typeface="Trebuchet MS"/>
                <a:cs typeface="Trebuchet MS"/>
              </a:rPr>
              <a:t>Survey</a:t>
            </a:r>
            <a:endParaRPr sz="33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8450" y="1212850"/>
          <a:ext cx="8686798" cy="4773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855"/>
                <a:gridCol w="1427480"/>
                <a:gridCol w="1574164"/>
                <a:gridCol w="1520189"/>
                <a:gridCol w="651510"/>
                <a:gridCol w="1219200"/>
                <a:gridCol w="1676400"/>
              </a:tblGrid>
              <a:tr h="552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Sr.no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4984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Published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Limitation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2039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203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Driven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Mock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Interview Systems: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Review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sz="16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5430">
                        <a:lnSpc>
                          <a:spcPct val="100000"/>
                        </a:lnSpc>
                      </a:pP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Sharma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280670" marR="273050" indent="-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Artificial Intelligence Research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168910" marR="162560" indent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Machine Learning, Natural Language Processing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150495" marR="141605" indent="-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datasets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training;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may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niche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industries effectively.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21812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16205" marR="10985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Improving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Job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Interview Preparedness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Virtual Simulations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16205" indent="-33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M.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J.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Thompson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L.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Wong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241300" marR="2330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International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Human- Computer Interaction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158115" indent="1625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Virtual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Reality,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Simulation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130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setup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costs; requires specialized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immersive experiences.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9850" y="1060450"/>
          <a:ext cx="8911587" cy="4599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"/>
                <a:gridCol w="1559560"/>
                <a:gridCol w="1273809"/>
                <a:gridCol w="1599564"/>
                <a:gridCol w="761364"/>
                <a:gridCol w="1523365"/>
                <a:gridCol w="1599565"/>
              </a:tblGrid>
              <a:tr h="762000">
                <a:tc>
                  <a:txBody>
                    <a:bodyPr/>
                    <a:lstStyle/>
                    <a:p>
                      <a:pPr marL="239395" marR="107950" indent="-1238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Sr.n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Published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Limitation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2007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1123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Career Development: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Mock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Interviews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Tool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3079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R.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K.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Patel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L.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Johnson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IEEE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54940" marR="14986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Learning Technologies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149225" marR="1403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6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Algorithms, Feedback Mechanisms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9215" indent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adaptability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responses;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dependency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predefined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question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sets.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18300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5272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Using Conversational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Agents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Interview Preparation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95" dirty="0">
                          <a:latin typeface="Times New Roman"/>
                          <a:cs typeface="Times New Roman"/>
                        </a:rPr>
                        <a:t>P.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Lee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H.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14" dirty="0">
                          <a:latin typeface="Times New Roman"/>
                          <a:cs typeface="Times New Roman"/>
                        </a:rPr>
                        <a:t>Y.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Kim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310515" marR="304800" indent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Journal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Chatbots,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NLP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698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struggle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understanding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queries;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generic feedback.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3457" y="686279"/>
            <a:ext cx="1932155" cy="3095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163" rIns="0" bIns="0" rtlCol="0">
            <a:spAutoFit/>
          </a:bodyPr>
          <a:lstStyle/>
          <a:p>
            <a:pPr marL="248793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80350D"/>
                </a:solidFill>
              </a:rPr>
              <a:t>Motivation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650240" y="1473453"/>
            <a:ext cx="64738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motivation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behind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AI-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Mock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stems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increasing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competition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market,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candidates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possess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right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qualifications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excel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spc="-3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seekers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anxiety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uncertainty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preparing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8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interviews,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lacking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access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practical </a:t>
            </a:r>
            <a:r>
              <a:rPr sz="1800" dirty="0">
                <a:latin typeface="Times New Roman"/>
                <a:cs typeface="Times New Roman"/>
              </a:rPr>
              <a:t>resources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feedback.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leveraging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artificial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intelligence,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offers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immersive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allows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practice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critical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</a:t>
            </a:r>
            <a:r>
              <a:rPr sz="1800" spc="-10" dirty="0">
                <a:latin typeface="Times New Roman"/>
                <a:cs typeface="Times New Roman"/>
              </a:rPr>
              <a:t> environment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0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</a:t>
            </a:r>
            <a:r>
              <a:rPr sz="3200" spc="-85" dirty="0"/>
              <a:t> </a:t>
            </a:r>
            <a:r>
              <a:rPr sz="3200" spc="-10" dirty="0"/>
              <a:t>Statement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37489" y="1401826"/>
            <a:ext cx="6626225" cy="23628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50"/>
              </a:spcBef>
            </a:pP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today's</a:t>
            </a:r>
            <a:r>
              <a:rPr sz="2100" spc="1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competitive</a:t>
            </a:r>
            <a:r>
              <a:rPr sz="2100" spc="1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job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market,</a:t>
            </a:r>
            <a:r>
              <a:rPr sz="2100" spc="1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many</a:t>
            </a:r>
            <a:r>
              <a:rPr sz="2100" spc="1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candidates</a:t>
            </a:r>
            <a:r>
              <a:rPr sz="2100" spc="1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struggle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preparation,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leading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anxiety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suboptimal </a:t>
            </a:r>
            <a:r>
              <a:rPr sz="2100" dirty="0">
                <a:latin typeface="Times New Roman"/>
                <a:cs typeface="Times New Roman"/>
              </a:rPr>
              <a:t>performance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during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actual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interviews.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Traditional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preparation </a:t>
            </a:r>
            <a:r>
              <a:rPr sz="2100" dirty="0">
                <a:latin typeface="Times New Roman"/>
                <a:cs typeface="Times New Roman"/>
              </a:rPr>
              <a:t>methods</a:t>
            </a:r>
            <a:r>
              <a:rPr sz="2100" spc="229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often</a:t>
            </a:r>
            <a:r>
              <a:rPr sz="2100" spc="2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lack</a:t>
            </a:r>
            <a:r>
              <a:rPr sz="2100" spc="23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personalized</a:t>
            </a:r>
            <a:r>
              <a:rPr sz="2100" spc="2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feedback</a:t>
            </a:r>
            <a:r>
              <a:rPr sz="2100" spc="2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23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do</a:t>
            </a:r>
            <a:r>
              <a:rPr sz="2100" spc="229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Times New Roman"/>
                <a:cs typeface="Times New Roman"/>
              </a:rPr>
              <a:t>not </a:t>
            </a:r>
            <a:r>
              <a:rPr sz="2100" dirty="0">
                <a:latin typeface="Times New Roman"/>
                <a:cs typeface="Times New Roman"/>
              </a:rPr>
              <a:t>simulate</a:t>
            </a:r>
            <a:r>
              <a:rPr sz="2100" spc="3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3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real</a:t>
            </a:r>
            <a:r>
              <a:rPr sz="2100" spc="3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</a:t>
            </a:r>
            <a:r>
              <a:rPr sz="2100" spc="3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experience,</a:t>
            </a:r>
            <a:r>
              <a:rPr sz="2100" spc="3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leaving</a:t>
            </a:r>
            <a:r>
              <a:rPr sz="2100" spc="3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job</a:t>
            </a:r>
            <a:r>
              <a:rPr sz="2100" spc="3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seekers </a:t>
            </a:r>
            <a:r>
              <a:rPr sz="2100" dirty="0">
                <a:latin typeface="Times New Roman"/>
                <a:cs typeface="Times New Roman"/>
              </a:rPr>
              <a:t>unprepared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uncertain.</a:t>
            </a:r>
            <a:r>
              <a:rPr sz="2100" spc="13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Additionally,</a:t>
            </a:r>
            <a:r>
              <a:rPr sz="2100" spc="1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candidates</a:t>
            </a:r>
            <a:r>
              <a:rPr sz="2100" spc="140" dirty="0">
                <a:latin typeface="Times New Roman"/>
                <a:cs typeface="Times New Roman"/>
              </a:rPr>
              <a:t>  </a:t>
            </a:r>
            <a:r>
              <a:rPr sz="2100" spc="-20" dirty="0">
                <a:latin typeface="Times New Roman"/>
                <a:cs typeface="Times New Roman"/>
              </a:rPr>
              <a:t>from </a:t>
            </a:r>
            <a:r>
              <a:rPr sz="2100" dirty="0">
                <a:latin typeface="Times New Roman"/>
                <a:cs typeface="Times New Roman"/>
              </a:rPr>
              <a:t>diverse</a:t>
            </a:r>
            <a:r>
              <a:rPr sz="2100" spc="26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backgrounds</a:t>
            </a:r>
            <a:r>
              <a:rPr sz="2100" spc="27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may</a:t>
            </a:r>
            <a:r>
              <a:rPr sz="2100" spc="27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not</a:t>
            </a:r>
            <a:r>
              <a:rPr sz="2100" spc="26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have</a:t>
            </a:r>
            <a:r>
              <a:rPr sz="2100" spc="26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access</a:t>
            </a:r>
            <a:r>
              <a:rPr sz="2100" spc="27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270" dirty="0">
                <a:latin typeface="Times New Roman"/>
                <a:cs typeface="Times New Roman"/>
              </a:rPr>
              <a:t>  </a:t>
            </a:r>
            <a:r>
              <a:rPr sz="2100" spc="-10" dirty="0">
                <a:latin typeface="Times New Roman"/>
                <a:cs typeface="Times New Roman"/>
              </a:rPr>
              <a:t>tailored </a:t>
            </a:r>
            <a:r>
              <a:rPr sz="2100" dirty="0">
                <a:latin typeface="Times New Roman"/>
                <a:cs typeface="Times New Roman"/>
              </a:rPr>
              <a:t>resources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address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their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specific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needs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challenges.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Objective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07340" y="1490217"/>
            <a:ext cx="693102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5260" algn="just">
              <a:lnSpc>
                <a:spcPct val="100000"/>
              </a:lnSpc>
              <a:spcBef>
                <a:spcPts val="100"/>
              </a:spcBef>
              <a:buSzPct val="94444"/>
              <a:buAutoNum type="arabicPeriod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Develop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Mock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Platform: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AI-based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tailors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simulations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on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professional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background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roles.</a:t>
            </a:r>
            <a:endParaRPr sz="1800">
              <a:latin typeface="Times New Roman"/>
              <a:cs typeface="Times New Roman"/>
            </a:endParaRPr>
          </a:p>
          <a:p>
            <a:pPr marL="184785" marR="5080" indent="-175260" algn="just">
              <a:lnSpc>
                <a:spcPct val="100000"/>
              </a:lnSpc>
              <a:buSzPct val="94444"/>
              <a:buAutoNum type="arabicPeriod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Enhance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Skills: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practice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areas,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including </a:t>
            </a:r>
            <a:r>
              <a:rPr sz="1800" dirty="0">
                <a:latin typeface="Times New Roman"/>
                <a:cs typeface="Times New Roman"/>
              </a:rPr>
              <a:t>self-introduction,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technical</a:t>
            </a:r>
            <a:r>
              <a:rPr sz="1800" spc="114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knowledge,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behavioral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questions,</a:t>
            </a:r>
            <a:r>
              <a:rPr sz="1800" spc="12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performance.</a:t>
            </a:r>
            <a:endParaRPr sz="1800">
              <a:latin typeface="Times New Roman"/>
              <a:cs typeface="Times New Roman"/>
            </a:endParaRPr>
          </a:p>
          <a:p>
            <a:pPr marL="184785" marR="5080" indent="-175260" algn="just">
              <a:lnSpc>
                <a:spcPct val="100000"/>
              </a:lnSpc>
              <a:buSzPct val="94444"/>
              <a:buAutoNum type="arabicPeriod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Offer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Feedback: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Implement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feedback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mechanism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spc="-20" dirty="0">
                <a:latin typeface="Times New Roman"/>
                <a:cs typeface="Times New Roman"/>
              </a:rPr>
              <a:t>that </a:t>
            </a:r>
            <a:r>
              <a:rPr sz="1800" dirty="0">
                <a:latin typeface="Times New Roman"/>
                <a:cs typeface="Times New Roman"/>
              </a:rPr>
              <a:t>analyzes</a:t>
            </a:r>
            <a:r>
              <a:rPr sz="1800" spc="3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3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responses</a:t>
            </a:r>
            <a:r>
              <a:rPr sz="1800" spc="3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3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constructive</a:t>
            </a:r>
            <a:r>
              <a:rPr sz="1800" spc="3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insights</a:t>
            </a:r>
            <a:r>
              <a:rPr sz="1800" spc="35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spc="-10" dirty="0">
                <a:latin typeface="Times New Roman"/>
                <a:cs typeface="Times New Roman"/>
              </a:rPr>
              <a:t>improvement.</a:t>
            </a:r>
            <a:endParaRPr sz="1800">
              <a:latin typeface="Times New Roman"/>
              <a:cs typeface="Times New Roman"/>
            </a:endParaRPr>
          </a:p>
          <a:p>
            <a:pPr marL="183515" marR="5715" indent="-174625" algn="just">
              <a:lnSpc>
                <a:spcPct val="100000"/>
              </a:lnSpc>
              <a:buSzPct val="94444"/>
              <a:buAutoNum type="arabicPeriod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Boost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Confidence: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immersive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interactive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experience 	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helps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build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confidence</a:t>
            </a:r>
            <a:r>
              <a:rPr sz="1800" spc="7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reduce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anxiety</a:t>
            </a:r>
            <a:r>
              <a:rPr sz="1800" spc="6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before</a:t>
            </a:r>
            <a:r>
              <a:rPr sz="1800" spc="6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actual 	interviews.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317" y="530831"/>
            <a:ext cx="3524349" cy="3915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783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System</a:t>
            </a:r>
            <a:r>
              <a:rPr sz="3200" spc="-185" dirty="0"/>
              <a:t> </a:t>
            </a:r>
            <a:r>
              <a:rPr sz="3200" spc="-10" dirty="0"/>
              <a:t>Architecture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526" y="1795939"/>
            <a:ext cx="6414134" cy="26436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933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Mathematical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8120" y="1870710"/>
            <a:ext cx="3914140" cy="3837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System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Description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(I,O,F)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latin typeface="Times New Roman"/>
                <a:cs typeface="Times New Roman"/>
              </a:rPr>
              <a:t>Where,</a:t>
            </a:r>
            <a:endParaRPr sz="2000">
              <a:latin typeface="Times New Roman"/>
              <a:cs typeface="Times New Roman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Font typeface="Symbol"/>
              <a:buChar char=""/>
              <a:tabLst>
                <a:tab pos="269875" algn="l"/>
              </a:tabLst>
            </a:pPr>
            <a:r>
              <a:rPr sz="2000" b="1" dirty="0">
                <a:latin typeface="Times New Roman"/>
                <a:cs typeface="Times New Roman"/>
              </a:rPr>
              <a:t>S: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Symbol"/>
              <a:buChar char=""/>
            </a:pPr>
            <a:endParaRPr sz="2000">
              <a:latin typeface="Times New Roman"/>
              <a:cs typeface="Times New Roman"/>
            </a:endParaRPr>
          </a:p>
          <a:p>
            <a:pPr marL="12700" marR="5080" indent="257175">
              <a:lnSpc>
                <a:spcPct val="114999"/>
              </a:lnSpc>
              <a:buFont typeface="Symbol"/>
              <a:buChar char=""/>
              <a:tabLst>
                <a:tab pos="269875" algn="l"/>
              </a:tabLst>
            </a:pP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20" dirty="0">
                <a:latin typeface="Times New Roman"/>
                <a:cs typeface="Times New Roman"/>
              </a:rPr>
              <a:t> MT, </a:t>
            </a:r>
            <a:r>
              <a:rPr sz="2000" b="1" dirty="0">
                <a:latin typeface="Times New Roman"/>
                <a:cs typeface="Times New Roman"/>
              </a:rPr>
              <a:t>UL,VU}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Inputs Where,</a:t>
            </a:r>
            <a:endParaRPr sz="200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68605" algn="l"/>
              </a:tabLst>
            </a:pPr>
            <a:r>
              <a:rPr sz="2000" dirty="0">
                <a:latin typeface="Times New Roman"/>
                <a:cs typeface="Times New Roman"/>
              </a:rPr>
              <a:t>MT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Mock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Test</a:t>
            </a:r>
            <a:endParaRPr sz="20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spcBef>
                <a:spcPts val="365"/>
              </a:spcBef>
              <a:buAutoNum type="arabicPeriod"/>
              <a:tabLst>
                <a:tab pos="269240" algn="l"/>
              </a:tabLst>
            </a:pPr>
            <a:r>
              <a:rPr sz="2000" dirty="0">
                <a:latin typeface="Times New Roman"/>
                <a:cs typeface="Times New Roman"/>
              </a:rPr>
              <a:t>UL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Login</a:t>
            </a:r>
            <a:endParaRPr sz="2000">
              <a:latin typeface="Times New Roman"/>
              <a:cs typeface="Times New Roman"/>
            </a:endParaRPr>
          </a:p>
          <a:p>
            <a:pPr marL="269240" indent="-25654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69240" algn="l"/>
              </a:tabLst>
            </a:pPr>
            <a:r>
              <a:rPr sz="2000" dirty="0">
                <a:latin typeface="Times New Roman"/>
                <a:cs typeface="Times New Roman"/>
              </a:rPr>
              <a:t>VU: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Video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Upload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1920" y="708736"/>
            <a:ext cx="368681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{A,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DP,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PM}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Function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Where,</a:t>
            </a:r>
            <a:endParaRPr sz="2000">
              <a:latin typeface="Times New Roman"/>
              <a:cs typeface="Times New Roman"/>
            </a:endParaRPr>
          </a:p>
          <a:p>
            <a:pPr marL="12700" marR="1270635" indent="4826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Authentication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DP: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Processing. </a:t>
            </a:r>
            <a:r>
              <a:rPr sz="2000" dirty="0">
                <a:latin typeface="Times New Roman"/>
                <a:cs typeface="Times New Roman"/>
              </a:rPr>
              <a:t>PM: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79946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CR}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Output Where,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CR: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Carrier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Recommendation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Success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Conditions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Failure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Conditions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solidFill>
                  <a:srgbClr val="767676"/>
                </a:solidFill>
                <a:latin typeface="Trebuchet MS"/>
                <a:cs typeface="Trebuchet MS"/>
              </a:rPr>
              <a:t>12</a:t>
            </a:fld>
            <a:endParaRPr spc="-25" dirty="0">
              <a:solidFill>
                <a:srgbClr val="767676"/>
              </a:solidFill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162" y="747776"/>
            <a:ext cx="32550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Details</a:t>
            </a:r>
            <a:r>
              <a:rPr sz="3200" spc="-25" dirty="0"/>
              <a:t> </a:t>
            </a:r>
            <a:r>
              <a:rPr sz="3200" dirty="0"/>
              <a:t>of</a:t>
            </a:r>
            <a:r>
              <a:rPr sz="3200" spc="10" dirty="0"/>
              <a:t> </a:t>
            </a:r>
            <a:r>
              <a:rPr sz="3200" spc="-10" dirty="0"/>
              <a:t>Modules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168653"/>
            <a:ext cx="4276090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665" algn="l"/>
              </a:tabLst>
            </a:pPr>
            <a:r>
              <a:rPr sz="1800" b="1" dirty="0">
                <a:latin typeface="Times New Roman"/>
                <a:cs typeface="Times New Roman"/>
              </a:rPr>
              <a:t>User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Registration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Purpose: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candidates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accounts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resumes.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authentication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(login/signup)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Resume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functionality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Profile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setup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input</a:t>
            </a:r>
            <a:endParaRPr sz="1800">
              <a:latin typeface="Times New Roman"/>
              <a:cs typeface="Times New Roman"/>
            </a:endParaRPr>
          </a:p>
          <a:p>
            <a:pPr marL="250190" indent="-234950">
              <a:lnSpc>
                <a:spcPct val="100000"/>
              </a:lnSpc>
              <a:spcBef>
                <a:spcPts val="1625"/>
              </a:spcBef>
              <a:buFont typeface="Trebuchet MS"/>
              <a:buAutoNum type="arabicPeriod" startAt="2"/>
              <a:tabLst>
                <a:tab pos="250190" algn="l"/>
              </a:tabLst>
            </a:pPr>
            <a:r>
              <a:rPr sz="1800" b="1" dirty="0">
                <a:latin typeface="Times New Roman"/>
                <a:cs typeface="Times New Roman"/>
              </a:rPr>
              <a:t>Resume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Parsing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15240" marR="216535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Times New Roman"/>
                <a:cs typeface="Times New Roman"/>
              </a:rPr>
              <a:t>Purpose: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Extracts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relevant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from </a:t>
            </a:r>
            <a:r>
              <a:rPr sz="1800" dirty="0">
                <a:latin typeface="Times New Roman"/>
                <a:cs typeface="Times New Roman"/>
              </a:rPr>
              <a:t>uploaded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resumes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profiles.</a:t>
            </a:r>
            <a:endParaRPr sz="18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758825" lvl="1" indent="-286385">
              <a:lnSpc>
                <a:spcPct val="100000"/>
              </a:lnSpc>
              <a:buFont typeface="Arial MT"/>
              <a:buChar char="•"/>
              <a:tabLst>
                <a:tab pos="758825" algn="l"/>
              </a:tabLst>
            </a:pPr>
            <a:r>
              <a:rPr sz="1800" dirty="0">
                <a:latin typeface="Times New Roman"/>
                <a:cs typeface="Times New Roman"/>
              </a:rPr>
              <a:t>Automated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-10" dirty="0">
                <a:latin typeface="Times New Roman"/>
                <a:cs typeface="Times New Roman"/>
              </a:rPr>
              <a:t> details</a:t>
            </a:r>
            <a:endParaRPr sz="1800">
              <a:latin typeface="Times New Roman"/>
              <a:cs typeface="Times New Roman"/>
            </a:endParaRPr>
          </a:p>
          <a:p>
            <a:pPr marL="75946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(education,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experience,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skills)</a:t>
            </a:r>
            <a:endParaRPr sz="1800">
              <a:latin typeface="Times New Roman"/>
              <a:cs typeface="Times New Roman"/>
            </a:endParaRPr>
          </a:p>
          <a:p>
            <a:pPr marL="759460" marR="5080" lvl="1" indent="-287020">
              <a:lnSpc>
                <a:spcPct val="100000"/>
              </a:lnSpc>
              <a:buFont typeface="Arial MT"/>
              <a:buChar char="•"/>
              <a:tabLst>
                <a:tab pos="759460" algn="l"/>
              </a:tabLst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storage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for </a:t>
            </a:r>
            <a:r>
              <a:rPr sz="1800" dirty="0">
                <a:latin typeface="Times New Roman"/>
                <a:cs typeface="Times New Roman"/>
              </a:rPr>
              <a:t>later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use</a:t>
            </a:r>
            <a:endParaRPr sz="1800">
              <a:latin typeface="Times New Roman"/>
              <a:cs typeface="Times New Roman"/>
            </a:endParaRPr>
          </a:p>
          <a:p>
            <a:pPr marL="759460" marR="1215390" lvl="1" indent="-287020">
              <a:lnSpc>
                <a:spcPct val="100000"/>
              </a:lnSpc>
              <a:buFont typeface="Arial MT"/>
              <a:buChar char="•"/>
              <a:tabLst>
                <a:tab pos="759460" algn="l"/>
              </a:tabLst>
            </a:pP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 -</a:t>
            </a:r>
            <a:r>
              <a:rPr sz="1800" spc="-10" dirty="0">
                <a:latin typeface="Times New Roman"/>
                <a:cs typeface="Times New Roman"/>
              </a:rPr>
              <a:t> K-Nearest Neigbor(KNN)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solidFill>
                  <a:srgbClr val="767676"/>
                </a:solidFill>
                <a:latin typeface="Trebuchet MS"/>
                <a:cs typeface="Trebuchet MS"/>
              </a:rPr>
              <a:t>13</a:t>
            </a:fld>
            <a:endParaRPr spc="-25" dirty="0">
              <a:solidFill>
                <a:srgbClr val="767676"/>
              </a:solidFill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4378"/>
            <a:ext cx="2597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Modules</a:t>
            </a:r>
            <a:r>
              <a:rPr sz="3000" spc="-35" dirty="0"/>
              <a:t> </a:t>
            </a:r>
            <a:r>
              <a:rPr sz="3000" spc="-10" dirty="0"/>
              <a:t>cont…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08812" y="1141606"/>
            <a:ext cx="6132830" cy="445643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645"/>
              </a:spcBef>
              <a:buAutoNum type="arabicPeriod" startAt="3"/>
              <a:tabLst>
                <a:tab pos="278765" algn="l"/>
              </a:tabLst>
            </a:pPr>
            <a:r>
              <a:rPr sz="2100" b="1" dirty="0">
                <a:latin typeface="Times New Roman"/>
                <a:cs typeface="Times New Roman"/>
              </a:rPr>
              <a:t>Question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Generation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Module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  <a:spcBef>
                <a:spcPts val="555"/>
              </a:spcBef>
            </a:pPr>
            <a:r>
              <a:rPr sz="2100" dirty="0">
                <a:latin typeface="Times New Roman"/>
                <a:cs typeface="Times New Roman"/>
              </a:rPr>
              <a:t>Purpose: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Generates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tailored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interview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questions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based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on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user’s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profile.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spc="-10" dirty="0">
                <a:latin typeface="Times New Roman"/>
                <a:cs typeface="Times New Roman"/>
              </a:rPr>
              <a:t>Features:</a:t>
            </a:r>
            <a:endParaRPr sz="2100">
              <a:latin typeface="Times New Roman"/>
              <a:cs typeface="Times New Roman"/>
            </a:endParaRPr>
          </a:p>
          <a:p>
            <a:pPr marL="469265" marR="27305" indent="43815">
              <a:lnSpc>
                <a:spcPct val="10840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Algorithm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questions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industry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standards </a:t>
            </a:r>
            <a:r>
              <a:rPr sz="1800" dirty="0">
                <a:latin typeface="Times New Roman"/>
                <a:cs typeface="Times New Roman"/>
              </a:rPr>
              <a:t>Customization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 user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experience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job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role </a:t>
            </a: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 -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Cosine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Similarity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Algorithm</a:t>
            </a:r>
            <a:endParaRPr sz="1800">
              <a:latin typeface="Times New Roman"/>
              <a:cs typeface="Times New Roman"/>
            </a:endParaRPr>
          </a:p>
          <a:p>
            <a:pPr marL="250190" indent="-234950">
              <a:lnSpc>
                <a:spcPct val="100000"/>
              </a:lnSpc>
              <a:spcBef>
                <a:spcPts val="1190"/>
              </a:spcBef>
              <a:buFont typeface="Trebuchet MS"/>
              <a:buAutoNum type="arabicPeriod" startAt="4"/>
              <a:tabLst>
                <a:tab pos="250190" algn="l"/>
              </a:tabLst>
            </a:pPr>
            <a:r>
              <a:rPr sz="1800" b="1" dirty="0">
                <a:latin typeface="Times New Roman"/>
                <a:cs typeface="Times New Roman"/>
              </a:rPr>
              <a:t>Interview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Simulation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Times New Roman"/>
                <a:cs typeface="Times New Roman"/>
              </a:rPr>
              <a:t>Purpose: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realistic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mock interview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environment.</a:t>
            </a:r>
            <a:endParaRPr sz="18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Features:</a:t>
            </a:r>
            <a:endParaRPr sz="1800">
              <a:latin typeface="Times New Roman"/>
              <a:cs typeface="Times New Roman"/>
            </a:endParaRPr>
          </a:p>
          <a:p>
            <a:pPr marL="472440" algn="just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Interactive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interface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answering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questions</a:t>
            </a:r>
            <a:endParaRPr sz="1800">
              <a:latin typeface="Times New Roman"/>
              <a:cs typeface="Times New Roman"/>
            </a:endParaRPr>
          </a:p>
          <a:p>
            <a:pPr marL="472440" marR="476250" algn="just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Timer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functionality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simulate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conditions </a:t>
            </a:r>
            <a:r>
              <a:rPr sz="1800" dirty="0">
                <a:latin typeface="Times New Roman"/>
                <a:cs typeface="Times New Roman"/>
              </a:rPr>
              <a:t>Algorithms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Natural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Language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Processing(NLP),RAG model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489" y="386841"/>
            <a:ext cx="8269020" cy="307777"/>
          </a:xfrm>
        </p:spPr>
        <p:txBody>
          <a:bodyPr/>
          <a:lstStyle/>
          <a:p>
            <a:r>
              <a:rPr lang="en-US" sz="2000" dirty="0" smtClean="0"/>
              <a:t>State Transition Diagram 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694618"/>
            <a:ext cx="176804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489" y="386841"/>
            <a:ext cx="8269020" cy="307777"/>
          </a:xfrm>
        </p:spPr>
        <p:txBody>
          <a:bodyPr/>
          <a:lstStyle/>
          <a:p>
            <a:r>
              <a:rPr lang="en-US" sz="2000" dirty="0" smtClean="0"/>
              <a:t>Sequence Diagram 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738" y="838200"/>
            <a:ext cx="3714522" cy="54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78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>
                <a:solidFill>
                  <a:srgbClr val="767676"/>
                </a:solidFill>
                <a:latin typeface="Trebuchet MS"/>
                <a:cs typeface="Trebuchet MS"/>
              </a:rPr>
              <a:t>16</a:t>
            </a:fld>
            <a:endParaRPr spc="-25" dirty="0">
              <a:solidFill>
                <a:srgbClr val="767676"/>
              </a:solidFill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7955"/>
            <a:ext cx="58775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Implementation</a:t>
            </a:r>
            <a:r>
              <a:rPr sz="3200" spc="-55" dirty="0"/>
              <a:t> </a:t>
            </a:r>
            <a:r>
              <a:rPr sz="3200" dirty="0"/>
              <a:t>Details</a:t>
            </a:r>
            <a:r>
              <a:rPr sz="3200" spc="-30" dirty="0"/>
              <a:t> </a:t>
            </a:r>
            <a:r>
              <a:rPr sz="3200" dirty="0"/>
              <a:t>of</a:t>
            </a:r>
            <a:r>
              <a:rPr sz="3200" spc="-15" dirty="0"/>
              <a:t> </a:t>
            </a:r>
            <a:r>
              <a:rPr sz="3200" spc="-10" dirty="0"/>
              <a:t>project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3540" y="1013205"/>
            <a:ext cx="754062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4625">
              <a:lnSpc>
                <a:spcPct val="100000"/>
              </a:lnSpc>
              <a:spcBef>
                <a:spcPts val="100"/>
              </a:spcBef>
              <a:buSzPct val="94444"/>
              <a:buAutoNum type="arabicPeriod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Registration: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interface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candidates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register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upload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resumes.</a:t>
            </a:r>
            <a:endParaRPr sz="1800">
              <a:latin typeface="Times New Roman"/>
              <a:cs typeface="Times New Roman"/>
            </a:endParaRPr>
          </a:p>
          <a:p>
            <a:pPr marL="184785" marR="5080" indent="-175260">
              <a:lnSpc>
                <a:spcPct val="100000"/>
              </a:lnSpc>
              <a:buSzPct val="94444"/>
              <a:buAutoNum type="arabicPeriod" startAt="2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Profile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Analysis: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uploaded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resume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extract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relevant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generate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profile.</a:t>
            </a:r>
            <a:endParaRPr sz="1800">
              <a:latin typeface="Times New Roman"/>
              <a:cs typeface="Times New Roman"/>
            </a:endParaRPr>
          </a:p>
          <a:p>
            <a:pPr marL="184785" marR="5715" indent="-175260">
              <a:lnSpc>
                <a:spcPct val="100000"/>
              </a:lnSpc>
              <a:buSzPct val="94444"/>
              <a:buAutoNum type="arabicPeriod" startAt="2"/>
              <a:tabLst>
                <a:tab pos="184785" algn="l"/>
                <a:tab pos="1141730" algn="l"/>
                <a:tab pos="2352040" algn="l"/>
                <a:tab pos="3256279" algn="l"/>
                <a:tab pos="3603625" algn="l"/>
                <a:tab pos="4621530" algn="l"/>
                <a:tab pos="4929505" algn="l"/>
                <a:tab pos="5835015" algn="l"/>
                <a:tab pos="6664325" algn="l"/>
              </a:tabLst>
            </a:pPr>
            <a:r>
              <a:rPr sz="1800" spc="-10" dirty="0">
                <a:latin typeface="Times New Roman"/>
                <a:cs typeface="Times New Roman"/>
              </a:rPr>
              <a:t>Question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Generation: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Develop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an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algorithm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generate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tailored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interview </a:t>
            </a:r>
            <a:r>
              <a:rPr sz="1800" dirty="0">
                <a:latin typeface="Times New Roman"/>
                <a:cs typeface="Times New Roman"/>
              </a:rPr>
              <a:t>questions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user’s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background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preferences.</a:t>
            </a:r>
            <a:endParaRPr sz="1800">
              <a:latin typeface="Times New Roman"/>
              <a:cs typeface="Times New Roman"/>
            </a:endParaRPr>
          </a:p>
          <a:p>
            <a:pPr marL="184150" indent="-174625">
              <a:lnSpc>
                <a:spcPct val="100000"/>
              </a:lnSpc>
              <a:buSzPct val="94444"/>
              <a:buAutoNum type="arabicPeriod" startAt="2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Simulation: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mock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environment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users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questions.</a:t>
            </a:r>
            <a:endParaRPr sz="1800">
              <a:latin typeface="Times New Roman"/>
              <a:cs typeface="Times New Roman"/>
            </a:endParaRPr>
          </a:p>
          <a:p>
            <a:pPr marL="184785" marR="6985" indent="-175260">
              <a:lnSpc>
                <a:spcPct val="100000"/>
              </a:lnSpc>
              <a:buSzPct val="94444"/>
              <a:buAutoNum type="arabicPeriod" startAt="5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Response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Collection: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Capture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record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responses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interview simulation.</a:t>
            </a:r>
            <a:endParaRPr sz="1800">
              <a:latin typeface="Times New Roman"/>
              <a:cs typeface="Times New Roman"/>
            </a:endParaRPr>
          </a:p>
          <a:p>
            <a:pPr marL="184785" indent="-174625">
              <a:lnSpc>
                <a:spcPct val="100000"/>
              </a:lnSpc>
              <a:buSzPct val="94444"/>
              <a:buAutoNum type="arabicPeriod" startAt="5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Evaluation: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assess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predefined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metrics.</a:t>
            </a:r>
            <a:endParaRPr sz="1800">
              <a:latin typeface="Times New Roman"/>
              <a:cs typeface="Times New Roman"/>
            </a:endParaRPr>
          </a:p>
          <a:p>
            <a:pPr marL="184785" marR="5080" indent="-175260">
              <a:lnSpc>
                <a:spcPct val="100000"/>
              </a:lnSpc>
              <a:buSzPct val="94444"/>
              <a:buAutoNum type="arabicPeriod" startAt="7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Feedback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Generation: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detailed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feedback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improvement.</a:t>
            </a:r>
            <a:endParaRPr sz="1800">
              <a:latin typeface="Times New Roman"/>
              <a:cs typeface="Times New Roman"/>
            </a:endParaRPr>
          </a:p>
          <a:p>
            <a:pPr marL="184785" marR="5715" indent="-175260">
              <a:lnSpc>
                <a:spcPct val="100000"/>
              </a:lnSpc>
              <a:buSzPct val="94444"/>
              <a:buAutoNum type="arabicPeriod" startAt="7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Confidence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Assessment: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Evaluate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user's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confidence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their </a:t>
            </a:r>
            <a:r>
              <a:rPr sz="1800" dirty="0">
                <a:latin typeface="Times New Roman"/>
                <a:cs typeface="Times New Roman"/>
              </a:rPr>
              <a:t>responses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delivery.</a:t>
            </a:r>
            <a:endParaRPr sz="1800">
              <a:latin typeface="Times New Roman"/>
              <a:cs typeface="Times New Roman"/>
            </a:endParaRPr>
          </a:p>
          <a:p>
            <a:pPr marL="184150" indent="-174625">
              <a:lnSpc>
                <a:spcPct val="100000"/>
              </a:lnSpc>
              <a:buSzPct val="94444"/>
              <a:buAutoNum type="arabicPeriod" startAt="7"/>
              <a:tabLst>
                <a:tab pos="184150" algn="l"/>
              </a:tabLst>
            </a:pPr>
            <a:r>
              <a:rPr sz="1800" dirty="0">
                <a:latin typeface="Times New Roman"/>
                <a:cs typeface="Times New Roman"/>
              </a:rPr>
              <a:t>Progress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Tracking: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feature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progress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multiple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sessions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ongoing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insights.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206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Conclusion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9740" y="1447546"/>
            <a:ext cx="6626225" cy="393890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460375" algn="just">
              <a:lnSpc>
                <a:spcPct val="102000"/>
              </a:lnSpc>
              <a:spcBef>
                <a:spcPts val="55"/>
              </a:spcBef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conclusion,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AI-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Mock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represents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significant</a:t>
            </a:r>
            <a:r>
              <a:rPr sz="1800" spc="4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advancement</a:t>
            </a:r>
            <a:r>
              <a:rPr sz="1800" spc="4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49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4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preparation,</a:t>
            </a:r>
            <a:r>
              <a:rPr sz="1800" spc="4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offering</a:t>
            </a:r>
            <a:r>
              <a:rPr sz="1800" spc="495" dirty="0">
                <a:latin typeface="Times New Roman"/>
                <a:cs typeface="Times New Roman"/>
              </a:rPr>
              <a:t>  </a:t>
            </a:r>
            <a:r>
              <a:rPr sz="1800" spc="-50" dirty="0">
                <a:latin typeface="Times New Roman"/>
                <a:cs typeface="Times New Roman"/>
              </a:rPr>
              <a:t>a </a:t>
            </a:r>
            <a:r>
              <a:rPr sz="1800" dirty="0">
                <a:latin typeface="Times New Roman"/>
                <a:cs typeface="Times New Roman"/>
              </a:rPr>
              <a:t>comprehensive,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</a:t>
            </a:r>
            <a:r>
              <a:rPr sz="1800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addresses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challenges </a:t>
            </a:r>
            <a:r>
              <a:rPr sz="1800" dirty="0">
                <a:latin typeface="Times New Roman"/>
                <a:cs typeface="Times New Roman"/>
              </a:rPr>
              <a:t>faced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seekers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today.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providing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realistic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simulation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interview</a:t>
            </a:r>
            <a:r>
              <a:rPr sz="1800" spc="4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process,</a:t>
            </a:r>
            <a:r>
              <a:rPr sz="1800" spc="48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personalized</a:t>
            </a:r>
            <a:r>
              <a:rPr sz="1800" spc="4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feedback,</a:t>
            </a:r>
            <a:r>
              <a:rPr sz="1800" spc="4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detailed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 </a:t>
            </a:r>
            <a:r>
              <a:rPr sz="1800" dirty="0">
                <a:latin typeface="Times New Roman"/>
                <a:cs typeface="Times New Roman"/>
              </a:rPr>
              <a:t>analysis,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empowers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enhance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9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skills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confidence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effectively.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market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continues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evolve,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need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accessible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adaptive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tools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becomes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increasingly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critical.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innovative</a:t>
            </a:r>
            <a:r>
              <a:rPr sz="1800" spc="3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solution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3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prepares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candidates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success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interviews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4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contributes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overall</a:t>
            </a:r>
            <a:r>
              <a:rPr sz="1800" spc="44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professional </a:t>
            </a:r>
            <a:r>
              <a:rPr sz="1800" dirty="0">
                <a:latin typeface="Times New Roman"/>
                <a:cs typeface="Times New Roman"/>
              </a:rPr>
              <a:t>development,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ultimately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bridging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gap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academic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knowledge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world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application.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investing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preparation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through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platform,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better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equipped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navigate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complexities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job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interviews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secure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desired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positions.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430" rIns="0" bIns="0" rtlCol="0">
            <a:spAutoFit/>
          </a:bodyPr>
          <a:lstStyle/>
          <a:p>
            <a:pPr marL="2507615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Times New Roman"/>
                <a:cs typeface="Times New Roman"/>
              </a:rPr>
              <a:t>R</a:t>
            </a:r>
            <a:r>
              <a:rPr spc="-10" dirty="0"/>
              <a:t>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715" indent="-34163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dirty="0"/>
              <a:t>Hossain,</a:t>
            </a:r>
            <a:r>
              <a:rPr spc="-1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N.,</a:t>
            </a:r>
            <a:r>
              <a:rPr spc="-3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Nisa,</a:t>
            </a:r>
            <a:r>
              <a:rPr spc="-20" dirty="0"/>
              <a:t> </a:t>
            </a:r>
            <a:r>
              <a:rPr dirty="0"/>
              <a:t>A.</a:t>
            </a:r>
            <a:r>
              <a:rPr spc="-20" dirty="0"/>
              <a:t> </a:t>
            </a:r>
            <a:r>
              <a:rPr dirty="0"/>
              <a:t>A.</a:t>
            </a:r>
            <a:r>
              <a:rPr spc="-5" dirty="0"/>
              <a:t> </a:t>
            </a:r>
            <a:r>
              <a:rPr dirty="0"/>
              <a:t>(2023).</a:t>
            </a:r>
            <a:r>
              <a:rPr spc="-10" dirty="0"/>
              <a:t> </a:t>
            </a:r>
            <a:r>
              <a:rPr dirty="0"/>
              <a:t>Artificial</a:t>
            </a:r>
            <a:r>
              <a:rPr spc="-10" dirty="0"/>
              <a:t> </a:t>
            </a:r>
            <a:r>
              <a:rPr dirty="0"/>
              <a:t>Intelligence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Recruitment: 	</a:t>
            </a:r>
            <a:r>
              <a:rPr dirty="0"/>
              <a:t>Impact</a:t>
            </a:r>
            <a:r>
              <a:rPr spc="295" dirty="0"/>
              <a:t> </a:t>
            </a:r>
            <a:r>
              <a:rPr dirty="0"/>
              <a:t>on</a:t>
            </a:r>
            <a:r>
              <a:rPr spc="295" dirty="0"/>
              <a:t> </a:t>
            </a:r>
            <a:r>
              <a:rPr dirty="0"/>
              <a:t>Efficiency</a:t>
            </a:r>
            <a:r>
              <a:rPr spc="300" dirty="0"/>
              <a:t> </a:t>
            </a:r>
            <a:r>
              <a:rPr dirty="0"/>
              <a:t>and</a:t>
            </a:r>
            <a:r>
              <a:rPr spc="300" dirty="0"/>
              <a:t> </a:t>
            </a:r>
            <a:r>
              <a:rPr dirty="0"/>
              <a:t>Decision</a:t>
            </a:r>
            <a:r>
              <a:rPr spc="295" dirty="0"/>
              <a:t> </a:t>
            </a:r>
            <a:r>
              <a:rPr dirty="0"/>
              <a:t>Making.</a:t>
            </a:r>
            <a:r>
              <a:rPr spc="275" dirty="0"/>
              <a:t> </a:t>
            </a:r>
            <a:r>
              <a:rPr i="1" dirty="0">
                <a:latin typeface="Times New Roman"/>
                <a:cs typeface="Times New Roman"/>
              </a:rPr>
              <a:t>Journal</a:t>
            </a:r>
            <a:r>
              <a:rPr i="1" spc="29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of</a:t>
            </a:r>
            <a:r>
              <a:rPr i="1" spc="29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Human</a:t>
            </a:r>
            <a:r>
              <a:rPr i="1" spc="295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Resource 	</a:t>
            </a:r>
            <a:r>
              <a:rPr i="1" dirty="0">
                <a:latin typeface="Times New Roman"/>
                <a:cs typeface="Times New Roman"/>
              </a:rPr>
              <a:t>Management</a:t>
            </a:r>
            <a:r>
              <a:rPr dirty="0"/>
              <a:t>,</a:t>
            </a:r>
            <a:r>
              <a:rPr spc="-90" dirty="0"/>
              <a:t> </a:t>
            </a:r>
            <a:r>
              <a:rPr dirty="0"/>
              <a:t>11(2),</a:t>
            </a:r>
            <a:r>
              <a:rPr spc="-70" dirty="0"/>
              <a:t> </a:t>
            </a:r>
            <a:r>
              <a:rPr spc="-10" dirty="0"/>
              <a:t>75-</a:t>
            </a:r>
            <a:r>
              <a:rPr spc="-25" dirty="0"/>
              <a:t>90.</a:t>
            </a:r>
          </a:p>
          <a:p>
            <a:pPr marL="355600" marR="5715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dirty="0"/>
              <a:t>Cascio,</a:t>
            </a:r>
            <a:r>
              <a:rPr spc="240" dirty="0"/>
              <a:t> </a:t>
            </a:r>
            <a:r>
              <a:rPr dirty="0"/>
              <a:t>W.</a:t>
            </a:r>
            <a:r>
              <a:rPr spc="240" dirty="0"/>
              <a:t> </a:t>
            </a:r>
            <a:r>
              <a:rPr dirty="0"/>
              <a:t>F.,</a:t>
            </a:r>
            <a:r>
              <a:rPr spc="235" dirty="0"/>
              <a:t> </a:t>
            </a:r>
            <a:r>
              <a:rPr dirty="0"/>
              <a:t>&amp;</a:t>
            </a:r>
            <a:r>
              <a:rPr spc="235" dirty="0"/>
              <a:t> </a:t>
            </a:r>
            <a:r>
              <a:rPr dirty="0"/>
              <a:t>Montealegre,</a:t>
            </a:r>
            <a:r>
              <a:rPr spc="235" dirty="0"/>
              <a:t> </a:t>
            </a:r>
            <a:r>
              <a:rPr dirty="0"/>
              <a:t>R.</a:t>
            </a:r>
            <a:r>
              <a:rPr spc="240" dirty="0"/>
              <a:t> </a:t>
            </a:r>
            <a:r>
              <a:rPr dirty="0"/>
              <a:t>(2022).</a:t>
            </a:r>
            <a:r>
              <a:rPr spc="235" dirty="0"/>
              <a:t> </a:t>
            </a:r>
            <a:r>
              <a:rPr dirty="0"/>
              <a:t>How</a:t>
            </a:r>
            <a:r>
              <a:rPr spc="225" dirty="0"/>
              <a:t> </a:t>
            </a:r>
            <a:r>
              <a:rPr dirty="0"/>
              <a:t>Technology</a:t>
            </a:r>
            <a:r>
              <a:rPr spc="254" dirty="0"/>
              <a:t> </a:t>
            </a:r>
            <a:r>
              <a:rPr dirty="0"/>
              <a:t>is</a:t>
            </a:r>
            <a:r>
              <a:rPr spc="229" dirty="0"/>
              <a:t> </a:t>
            </a:r>
            <a:r>
              <a:rPr spc="-10" dirty="0"/>
              <a:t>Reshaping </a:t>
            </a:r>
            <a:r>
              <a:rPr dirty="0"/>
              <a:t>Work</a:t>
            </a:r>
            <a:r>
              <a:rPr spc="185" dirty="0"/>
              <a:t>  </a:t>
            </a:r>
            <a:r>
              <a:rPr dirty="0"/>
              <a:t>and</a:t>
            </a:r>
            <a:r>
              <a:rPr spc="190" dirty="0"/>
              <a:t>  </a:t>
            </a:r>
            <a:r>
              <a:rPr dirty="0"/>
              <a:t>Workplaces:</a:t>
            </a:r>
            <a:r>
              <a:rPr spc="185" dirty="0"/>
              <a:t>  </a:t>
            </a:r>
            <a:r>
              <a:rPr dirty="0"/>
              <a:t>The</a:t>
            </a:r>
            <a:r>
              <a:rPr spc="190" dirty="0"/>
              <a:t>  </a:t>
            </a:r>
            <a:r>
              <a:rPr dirty="0"/>
              <a:t>Role</a:t>
            </a:r>
            <a:r>
              <a:rPr spc="190" dirty="0"/>
              <a:t>  </a:t>
            </a:r>
            <a:r>
              <a:rPr dirty="0"/>
              <a:t>of</a:t>
            </a:r>
            <a:r>
              <a:rPr spc="185" dirty="0"/>
              <a:t>  </a:t>
            </a:r>
            <a:r>
              <a:rPr dirty="0"/>
              <a:t>AI</a:t>
            </a:r>
            <a:r>
              <a:rPr spc="190" dirty="0"/>
              <a:t>  </a:t>
            </a:r>
            <a:r>
              <a:rPr dirty="0"/>
              <a:t>in</a:t>
            </a:r>
            <a:r>
              <a:rPr spc="180" dirty="0"/>
              <a:t>  </a:t>
            </a:r>
            <a:r>
              <a:rPr dirty="0"/>
              <a:t>Recruitment.</a:t>
            </a:r>
            <a:r>
              <a:rPr spc="190" dirty="0"/>
              <a:t>  </a:t>
            </a:r>
            <a:r>
              <a:rPr i="1" spc="-10" dirty="0">
                <a:latin typeface="Times New Roman"/>
                <a:cs typeface="Times New Roman"/>
              </a:rPr>
              <a:t>Personnel </a:t>
            </a:r>
            <a:r>
              <a:rPr i="1" dirty="0">
                <a:latin typeface="Times New Roman"/>
                <a:cs typeface="Times New Roman"/>
              </a:rPr>
              <a:t>Psychology</a:t>
            </a:r>
            <a:r>
              <a:rPr dirty="0"/>
              <a:t>,</a:t>
            </a:r>
            <a:r>
              <a:rPr spc="-30" dirty="0"/>
              <a:t> </a:t>
            </a:r>
            <a:r>
              <a:rPr dirty="0"/>
              <a:t>75(1),</a:t>
            </a:r>
            <a:r>
              <a:rPr spc="-10" dirty="0"/>
              <a:t> 1-</a:t>
            </a:r>
            <a:r>
              <a:rPr spc="-25" dirty="0"/>
              <a:t>22.</a:t>
            </a:r>
          </a:p>
          <a:p>
            <a:pPr marL="355600" marR="5080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/>
              <a:t>Yeo,</a:t>
            </a:r>
            <a:r>
              <a:rPr spc="90" dirty="0"/>
              <a:t>  </a:t>
            </a:r>
            <a:r>
              <a:rPr dirty="0"/>
              <a:t>R.</a:t>
            </a:r>
            <a:r>
              <a:rPr spc="85" dirty="0"/>
              <a:t>  </a:t>
            </a:r>
            <a:r>
              <a:rPr dirty="0"/>
              <a:t>K.,</a:t>
            </a:r>
            <a:r>
              <a:rPr spc="90" dirty="0"/>
              <a:t>  </a:t>
            </a:r>
            <a:r>
              <a:rPr dirty="0"/>
              <a:t>&amp;</a:t>
            </a:r>
            <a:r>
              <a:rPr spc="80" dirty="0"/>
              <a:t>  </a:t>
            </a:r>
            <a:r>
              <a:rPr dirty="0"/>
              <a:t>Goh,</a:t>
            </a:r>
            <a:r>
              <a:rPr spc="85" dirty="0"/>
              <a:t>  </a:t>
            </a:r>
            <a:r>
              <a:rPr dirty="0"/>
              <a:t>K.</a:t>
            </a:r>
            <a:r>
              <a:rPr spc="90" dirty="0"/>
              <a:t>  </a:t>
            </a:r>
            <a:r>
              <a:rPr dirty="0"/>
              <a:t>J.</a:t>
            </a:r>
            <a:r>
              <a:rPr spc="85" dirty="0"/>
              <a:t>  </a:t>
            </a:r>
            <a:r>
              <a:rPr dirty="0"/>
              <a:t>(2023).</a:t>
            </a:r>
            <a:r>
              <a:rPr spc="90" dirty="0"/>
              <a:t>  </a:t>
            </a:r>
            <a:r>
              <a:rPr dirty="0"/>
              <a:t>The</a:t>
            </a:r>
            <a:r>
              <a:rPr spc="80" dirty="0"/>
              <a:t>  </a:t>
            </a:r>
            <a:r>
              <a:rPr dirty="0"/>
              <a:t>Ethical</a:t>
            </a:r>
            <a:r>
              <a:rPr spc="85" dirty="0"/>
              <a:t>  </a:t>
            </a:r>
            <a:r>
              <a:rPr dirty="0"/>
              <a:t>Challenges</a:t>
            </a:r>
            <a:r>
              <a:rPr spc="80" dirty="0"/>
              <a:t>  </a:t>
            </a:r>
            <a:r>
              <a:rPr dirty="0"/>
              <a:t>of</a:t>
            </a:r>
            <a:r>
              <a:rPr spc="80" dirty="0"/>
              <a:t>  </a:t>
            </a:r>
            <a:r>
              <a:rPr dirty="0"/>
              <a:t>AI</a:t>
            </a:r>
            <a:r>
              <a:rPr spc="85" dirty="0"/>
              <a:t>  </a:t>
            </a:r>
            <a:r>
              <a:rPr spc="-25" dirty="0"/>
              <a:t>in </a:t>
            </a:r>
            <a:r>
              <a:rPr dirty="0"/>
              <a:t>Recruitment:</a:t>
            </a:r>
            <a:r>
              <a:rPr spc="350" dirty="0"/>
              <a:t>  </a:t>
            </a:r>
            <a:r>
              <a:rPr dirty="0"/>
              <a:t>Balancing</a:t>
            </a:r>
            <a:r>
              <a:rPr spc="360" dirty="0"/>
              <a:t>  </a:t>
            </a:r>
            <a:r>
              <a:rPr dirty="0"/>
              <a:t>Efficiency</a:t>
            </a:r>
            <a:r>
              <a:rPr spc="365" dirty="0"/>
              <a:t>  </a:t>
            </a:r>
            <a:r>
              <a:rPr dirty="0"/>
              <a:t>and</a:t>
            </a:r>
            <a:r>
              <a:rPr spc="365" dirty="0"/>
              <a:t>  </a:t>
            </a:r>
            <a:r>
              <a:rPr dirty="0"/>
              <a:t>Fairness.</a:t>
            </a:r>
            <a:r>
              <a:rPr spc="360" dirty="0"/>
              <a:t>  </a:t>
            </a:r>
            <a:r>
              <a:rPr i="1" dirty="0">
                <a:latin typeface="Times New Roman"/>
                <a:cs typeface="Times New Roman"/>
              </a:rPr>
              <a:t>Human</a:t>
            </a:r>
            <a:r>
              <a:rPr i="1" spc="370" dirty="0">
                <a:latin typeface="Times New Roman"/>
                <a:cs typeface="Times New Roman"/>
              </a:rPr>
              <a:t>  </a:t>
            </a:r>
            <a:r>
              <a:rPr i="1" spc="-10" dirty="0">
                <a:latin typeface="Times New Roman"/>
                <a:cs typeface="Times New Roman"/>
              </a:rPr>
              <a:t>Resource </a:t>
            </a:r>
            <a:r>
              <a:rPr i="1" dirty="0">
                <a:latin typeface="Times New Roman"/>
                <a:cs typeface="Times New Roman"/>
              </a:rPr>
              <a:t>Management</a:t>
            </a:r>
            <a:r>
              <a:rPr i="1" spc="-5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Review</a:t>
            </a:r>
            <a:r>
              <a:rPr dirty="0"/>
              <a:t>,</a:t>
            </a:r>
            <a:r>
              <a:rPr spc="-75" dirty="0"/>
              <a:t> </a:t>
            </a:r>
            <a:r>
              <a:rPr dirty="0"/>
              <a:t>33(2),</a:t>
            </a:r>
            <a:r>
              <a:rPr spc="-55" dirty="0"/>
              <a:t> </a:t>
            </a:r>
            <a:r>
              <a:rPr spc="-10" dirty="0"/>
              <a:t>100832.</a:t>
            </a:r>
          </a:p>
          <a:p>
            <a:pPr marL="355600" marR="6985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/>
              <a:t>Singh,</a:t>
            </a:r>
            <a:r>
              <a:rPr spc="295" dirty="0"/>
              <a:t> </a:t>
            </a:r>
            <a:r>
              <a:rPr dirty="0"/>
              <a:t>A.,</a:t>
            </a:r>
            <a:r>
              <a:rPr spc="285" dirty="0"/>
              <a:t> </a:t>
            </a:r>
            <a:r>
              <a:rPr dirty="0"/>
              <a:t>&amp;</a:t>
            </a:r>
            <a:r>
              <a:rPr spc="285" dirty="0"/>
              <a:t> </a:t>
            </a:r>
            <a:r>
              <a:rPr dirty="0"/>
              <a:t>Kumar,</a:t>
            </a:r>
            <a:r>
              <a:rPr spc="300" dirty="0"/>
              <a:t> </a:t>
            </a:r>
            <a:r>
              <a:rPr dirty="0"/>
              <a:t>S.</a:t>
            </a:r>
            <a:r>
              <a:rPr spc="285" dirty="0"/>
              <a:t> </a:t>
            </a:r>
            <a:r>
              <a:rPr dirty="0"/>
              <a:t>(2024).</a:t>
            </a:r>
            <a:r>
              <a:rPr spc="285" dirty="0"/>
              <a:t> </a:t>
            </a:r>
            <a:r>
              <a:rPr dirty="0"/>
              <a:t>The</a:t>
            </a:r>
            <a:r>
              <a:rPr spc="285" dirty="0"/>
              <a:t> </a:t>
            </a:r>
            <a:r>
              <a:rPr dirty="0"/>
              <a:t>Future</a:t>
            </a:r>
            <a:r>
              <a:rPr spc="285" dirty="0"/>
              <a:t> </a:t>
            </a:r>
            <a:r>
              <a:rPr dirty="0"/>
              <a:t>of</a:t>
            </a:r>
            <a:r>
              <a:rPr spc="280" dirty="0"/>
              <a:t> </a:t>
            </a:r>
            <a:r>
              <a:rPr dirty="0"/>
              <a:t>AI</a:t>
            </a:r>
            <a:r>
              <a:rPr spc="280" dirty="0"/>
              <a:t> </a:t>
            </a:r>
            <a:r>
              <a:rPr dirty="0"/>
              <a:t>in</a:t>
            </a:r>
            <a:r>
              <a:rPr spc="275" dirty="0"/>
              <a:t> </a:t>
            </a:r>
            <a:r>
              <a:rPr dirty="0"/>
              <a:t>Talent</a:t>
            </a:r>
            <a:r>
              <a:rPr spc="290" dirty="0"/>
              <a:t> </a:t>
            </a:r>
            <a:r>
              <a:rPr spc="-10" dirty="0"/>
              <a:t>Acquisition: </a:t>
            </a:r>
            <a:r>
              <a:rPr dirty="0"/>
              <a:t>Trends</a:t>
            </a:r>
            <a:r>
              <a:rPr spc="300" dirty="0"/>
              <a:t>  </a:t>
            </a:r>
            <a:r>
              <a:rPr dirty="0"/>
              <a:t>and</a:t>
            </a:r>
            <a:r>
              <a:rPr spc="305" dirty="0"/>
              <a:t>  </a:t>
            </a:r>
            <a:r>
              <a:rPr dirty="0"/>
              <a:t>Challenges.</a:t>
            </a:r>
            <a:r>
              <a:rPr spc="305" dirty="0"/>
              <a:t>  </a:t>
            </a:r>
            <a:r>
              <a:rPr i="1" dirty="0">
                <a:latin typeface="Times New Roman"/>
                <a:cs typeface="Times New Roman"/>
              </a:rPr>
              <a:t>International</a:t>
            </a:r>
            <a:r>
              <a:rPr i="1" spc="305" dirty="0">
                <a:latin typeface="Times New Roman"/>
                <a:cs typeface="Times New Roman"/>
              </a:rPr>
              <a:t>  </a:t>
            </a:r>
            <a:r>
              <a:rPr i="1" dirty="0">
                <a:latin typeface="Times New Roman"/>
                <a:cs typeface="Times New Roman"/>
              </a:rPr>
              <a:t>Journal</a:t>
            </a:r>
            <a:r>
              <a:rPr i="1" spc="305" dirty="0">
                <a:latin typeface="Times New Roman"/>
                <a:cs typeface="Times New Roman"/>
              </a:rPr>
              <a:t>  </a:t>
            </a:r>
            <a:r>
              <a:rPr i="1" dirty="0">
                <a:latin typeface="Times New Roman"/>
                <a:cs typeface="Times New Roman"/>
              </a:rPr>
              <a:t>of</a:t>
            </a:r>
            <a:r>
              <a:rPr i="1" spc="305" dirty="0">
                <a:latin typeface="Times New Roman"/>
                <a:cs typeface="Times New Roman"/>
              </a:rPr>
              <a:t>  </a:t>
            </a:r>
            <a:r>
              <a:rPr i="1" dirty="0">
                <a:latin typeface="Times New Roman"/>
                <a:cs typeface="Times New Roman"/>
              </a:rPr>
              <a:t>Human</a:t>
            </a:r>
            <a:r>
              <a:rPr i="1" spc="300" dirty="0">
                <a:latin typeface="Times New Roman"/>
                <a:cs typeface="Times New Roman"/>
              </a:rPr>
              <a:t>  </a:t>
            </a:r>
            <a:r>
              <a:rPr i="1" spc="-10" dirty="0">
                <a:latin typeface="Times New Roman"/>
                <a:cs typeface="Times New Roman"/>
              </a:rPr>
              <a:t>Resource </a:t>
            </a:r>
            <a:r>
              <a:rPr i="1" dirty="0">
                <a:latin typeface="Times New Roman"/>
                <a:cs typeface="Times New Roman"/>
              </a:rPr>
              <a:t>Management</a:t>
            </a:r>
            <a:r>
              <a:rPr dirty="0"/>
              <a:t>,</a:t>
            </a:r>
            <a:r>
              <a:rPr spc="-50" dirty="0"/>
              <a:t> </a:t>
            </a:r>
            <a:r>
              <a:rPr dirty="0"/>
              <a:t>35(1),</a:t>
            </a:r>
            <a:r>
              <a:rPr spc="-35" dirty="0"/>
              <a:t> </a:t>
            </a:r>
            <a:r>
              <a:rPr spc="-10" dirty="0"/>
              <a:t>134-</a:t>
            </a:r>
            <a:r>
              <a:rPr spc="-20" dirty="0"/>
              <a:t>150.</a:t>
            </a:r>
          </a:p>
          <a:p>
            <a:pPr marL="355600" marR="6350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dirty="0"/>
              <a:t>Berrios,</a:t>
            </a:r>
            <a:r>
              <a:rPr spc="160" dirty="0"/>
              <a:t> </a:t>
            </a:r>
            <a:r>
              <a:rPr dirty="0"/>
              <a:t>J.</a:t>
            </a:r>
            <a:r>
              <a:rPr spc="155" dirty="0"/>
              <a:t> </a:t>
            </a:r>
            <a:r>
              <a:rPr dirty="0"/>
              <a:t>D.,</a:t>
            </a:r>
            <a:r>
              <a:rPr spc="150" dirty="0"/>
              <a:t> </a:t>
            </a:r>
            <a:r>
              <a:rPr dirty="0"/>
              <a:t>&amp;</a:t>
            </a:r>
            <a:r>
              <a:rPr spc="155" dirty="0"/>
              <a:t> </a:t>
            </a:r>
            <a:r>
              <a:rPr dirty="0"/>
              <a:t>Lee,</a:t>
            </a:r>
            <a:r>
              <a:rPr spc="165" dirty="0"/>
              <a:t> </a:t>
            </a:r>
            <a:r>
              <a:rPr dirty="0"/>
              <a:t>Y.</a:t>
            </a:r>
            <a:r>
              <a:rPr spc="155" dirty="0"/>
              <a:t> </a:t>
            </a:r>
            <a:r>
              <a:rPr dirty="0"/>
              <a:t>S.</a:t>
            </a:r>
            <a:r>
              <a:rPr spc="155" dirty="0"/>
              <a:t> </a:t>
            </a:r>
            <a:r>
              <a:rPr dirty="0"/>
              <a:t>(2024).</a:t>
            </a:r>
            <a:r>
              <a:rPr spc="160" dirty="0"/>
              <a:t> </a:t>
            </a:r>
            <a:r>
              <a:rPr dirty="0"/>
              <a:t>Transforming</a:t>
            </a:r>
            <a:r>
              <a:rPr spc="155" dirty="0"/>
              <a:t> </a:t>
            </a:r>
            <a:r>
              <a:rPr dirty="0"/>
              <a:t>Talent</a:t>
            </a:r>
            <a:r>
              <a:rPr spc="160" dirty="0"/>
              <a:t> </a:t>
            </a:r>
            <a:r>
              <a:rPr dirty="0"/>
              <a:t>Acquisition:</a:t>
            </a:r>
            <a:r>
              <a:rPr spc="140" dirty="0"/>
              <a:t> </a:t>
            </a:r>
            <a:r>
              <a:rPr spc="-25" dirty="0"/>
              <a:t>The </a:t>
            </a:r>
            <a:r>
              <a:rPr dirty="0"/>
              <a:t>Role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spc="-105" dirty="0"/>
              <a:t> </a:t>
            </a:r>
            <a:r>
              <a:rPr dirty="0"/>
              <a:t>AI</a:t>
            </a:r>
            <a:r>
              <a:rPr spc="-45" dirty="0"/>
              <a:t> </a:t>
            </a:r>
            <a:r>
              <a:rPr spc="-10" dirty="0"/>
              <a:t>Technologies.</a:t>
            </a:r>
            <a:r>
              <a:rPr spc="-40" dirty="0"/>
              <a:t> </a:t>
            </a:r>
            <a:r>
              <a:rPr i="1" dirty="0">
                <a:latin typeface="Times New Roman"/>
                <a:cs typeface="Times New Roman"/>
              </a:rPr>
              <a:t>Journal</a:t>
            </a:r>
            <a:r>
              <a:rPr i="1" spc="-2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of</a:t>
            </a:r>
            <a:r>
              <a:rPr i="1" spc="-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Business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Research</a:t>
            </a:r>
            <a:r>
              <a:rPr spc="-10" dirty="0"/>
              <a:t>,</a:t>
            </a:r>
            <a:r>
              <a:rPr spc="-15" dirty="0"/>
              <a:t> </a:t>
            </a:r>
            <a:r>
              <a:rPr dirty="0"/>
              <a:t>157,</a:t>
            </a:r>
            <a:r>
              <a:rPr spc="-20" dirty="0"/>
              <a:t> </a:t>
            </a:r>
            <a:r>
              <a:rPr spc="-10" dirty="0"/>
              <a:t>1-</a:t>
            </a:r>
            <a:r>
              <a:rPr spc="-25" dirty="0"/>
              <a:t>11.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1473" y="2712466"/>
            <a:ext cx="19411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0350D"/>
                </a:solidFill>
              </a:rPr>
              <a:t>Thank</a:t>
            </a:r>
            <a:r>
              <a:rPr sz="3200" spc="-140" dirty="0">
                <a:solidFill>
                  <a:srgbClr val="80350D"/>
                </a:solidFill>
              </a:rPr>
              <a:t> </a:t>
            </a:r>
            <a:r>
              <a:rPr sz="3200" spc="-100" dirty="0">
                <a:solidFill>
                  <a:srgbClr val="80350D"/>
                </a:solidFill>
              </a:rPr>
              <a:t>You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1119</Words>
  <Application>Microsoft Office PowerPoint</Application>
  <PresentationFormat>On-screen Show (4:3)</PresentationFormat>
  <Paragraphs>169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MT</vt:lpstr>
      <vt:lpstr>Symbol</vt:lpstr>
      <vt:lpstr>Tahoma</vt:lpstr>
      <vt:lpstr>Times New Roman</vt:lpstr>
      <vt:lpstr>Trebuchet MS</vt:lpstr>
      <vt:lpstr>Office Theme</vt:lpstr>
      <vt:lpstr>Matoshri College of Engineering and Research Centre, Nashik</vt:lpstr>
      <vt:lpstr>Index</vt:lpstr>
      <vt:lpstr>Introduction to topic</vt:lpstr>
      <vt:lpstr>Literature Survey</vt:lpstr>
      <vt:lpstr>PowerPoint Presentation</vt:lpstr>
      <vt:lpstr>Motivation</vt:lpstr>
      <vt:lpstr>Problem Statement</vt:lpstr>
      <vt:lpstr>Objective</vt:lpstr>
      <vt:lpstr>System Architecture</vt:lpstr>
      <vt:lpstr>Mathematical Model</vt:lpstr>
      <vt:lpstr>PowerPoint Presentation</vt:lpstr>
      <vt:lpstr>Details of Modules</vt:lpstr>
      <vt:lpstr>Modules cont…</vt:lpstr>
      <vt:lpstr>State Transition Diagram </vt:lpstr>
      <vt:lpstr>Sequence Diagram </vt:lpstr>
      <vt:lpstr>Implementation Details of project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Vaibhav</dc:creator>
  <cp:lastModifiedBy>DELL</cp:lastModifiedBy>
  <cp:revision>1</cp:revision>
  <dcterms:created xsi:type="dcterms:W3CDTF">2024-11-11T06:49:49Z</dcterms:created>
  <dcterms:modified xsi:type="dcterms:W3CDTF">2024-11-11T06:56:56Z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2024-11-11T00:00:00Z</vt:filetime>
  </property>
  <property fmtid="{D5CDD505-2E9C-101B-9397-08002B2CF9AE}" pid="5" name="Producer">
    <vt:lpwstr>Microsoft® PowerPoint® for Microsoft 365</vt:lpwstr>
  </property>
</Properties>
</file>